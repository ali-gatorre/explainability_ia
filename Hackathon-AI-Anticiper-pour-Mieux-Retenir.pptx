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74" r:id="rId5"/>
    <p:sldId id="266" r:id="rId6"/>
    <p:sldId id="259" r:id="rId7"/>
    <p:sldId id="264" r:id="rId8"/>
    <p:sldId id="273" r:id="rId9"/>
    <p:sldId id="260" r:id="rId10"/>
    <p:sldId id="261" r:id="rId11"/>
    <p:sldId id="267" r:id="rId12"/>
    <p:sldId id="268" r:id="rId13"/>
    <p:sldId id="262" r:id="rId14"/>
    <p:sldId id="269" r:id="rId15"/>
    <p:sldId id="271" r:id="rId16"/>
    <p:sldId id="270" r:id="rId17"/>
    <p:sldId id="272" r:id="rId18"/>
  </p:sldIdLst>
  <p:sldSz cx="14630400" cy="8229600"/>
  <p:notesSz cx="8229600" cy="14630400"/>
  <p:embeddedFontLst>
    <p:embeddedFont>
      <p:font typeface="Host Grotesk Medium" panose="020B0504030402000203"/>
      <p:regular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98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4432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E7BC0352-D0A1-D34E-298B-9940CE7392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B8832D9-9702-14B9-98B8-1CE1D8CC00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A282B6-378E-EB4A-8B15-B6EC1D94E67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D39341-D86B-0A05-566D-8798CCA538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0DF45E-6A62-BAD9-BF0E-ACC95A539B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701A4-C954-8746-8B31-A53F199D86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92323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859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2241C-7EAE-F64C-BD83-52EACB374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48470-9238-5443-7B58-807BABBCC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E2898-4E97-B72C-3D86-9387BD71D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28399-5693-B1FC-6394-E486CB1684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187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4BFD1-9EA2-67EE-2686-F4176A2ED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E6AE1-B9CB-FD00-D314-476DAADC8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D536F-6B9F-FF6B-A6AE-1838FCAB8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97078-D359-A477-E20D-A05E2DC02A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63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56DA-F5C6-09BF-C645-C9C2780F2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FE573-793C-AB35-8B52-9A532981D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1243D-FDDC-6FE8-2282-E1E3E333B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035EC-ED4C-D5C0-D2B3-7DFEA30CD3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66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289571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Hackathon AI : Anticiper pour Mieux Retenir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793790" y="4653439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Comment </a:t>
            </a:r>
            <a:r>
              <a:rPr lang="en-US" sz="1750" b="1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anticiper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 </a:t>
            </a:r>
            <a:r>
              <a:rPr lang="en-US" sz="1750" b="1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départ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750" b="1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nos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talents </a:t>
            </a:r>
            <a:r>
              <a:rPr lang="en-US" sz="1750" b="1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clés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pour passer </a:t>
            </a:r>
            <a:r>
              <a:rPr lang="en-US" sz="1750" b="1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d'une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gestion RH </a:t>
            </a:r>
            <a:r>
              <a:rPr lang="en-US" sz="1750" b="1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réactive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à </a:t>
            </a:r>
            <a:r>
              <a:rPr lang="en-US" sz="1750" b="1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b="1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stratégie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750" b="1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rétention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proactive et </a:t>
            </a:r>
            <a:r>
              <a:rPr lang="en-US" sz="1750" b="1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ciblée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? </a:t>
            </a:r>
            <a:endParaRPr lang="en-US" sz="1750" b="1" dirty="0"/>
          </a:p>
        </p:txBody>
      </p:sp>
      <p:pic>
        <p:nvPicPr>
          <p:cNvPr id="10" name="Image 9" descr="Une image contenant Graphique, logo, capture d’écran, symbole&#10;&#10;Le contenu généré par l’IA peut être incorrect.">
            <a:extLst>
              <a:ext uri="{FF2B5EF4-FFF2-40B4-BE49-F238E27FC236}">
                <a16:creationId xmlns:a16="http://schemas.microsoft.com/office/drawing/2014/main" id="{1FC566F3-5E29-1B4D-AFC3-ADCF75BAC9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97" r="62565" b="-4734"/>
          <a:stretch>
            <a:fillRect/>
          </a:stretch>
        </p:blipFill>
        <p:spPr>
          <a:xfrm>
            <a:off x="9795354" y="-311531"/>
            <a:ext cx="3702068" cy="6414500"/>
          </a:xfrm>
          <a:prstGeom prst="rect">
            <a:avLst/>
          </a:prstGeom>
        </p:spPr>
      </p:pic>
      <p:pic>
        <p:nvPicPr>
          <p:cNvPr id="11" name="Image 10" descr="Une image contenant Graphique, logo, capture d’écran, symbole&#10;&#10;Le contenu généré par l’IA peut être incorrect.">
            <a:extLst>
              <a:ext uri="{FF2B5EF4-FFF2-40B4-BE49-F238E27FC236}">
                <a16:creationId xmlns:a16="http://schemas.microsoft.com/office/drawing/2014/main" id="{10B21E02-DB3D-8042-D0E7-BB2E68B3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181" b="6123"/>
          <a:stretch>
            <a:fillRect/>
          </a:stretch>
        </p:blipFill>
        <p:spPr>
          <a:xfrm>
            <a:off x="8869680" y="3404414"/>
            <a:ext cx="6137753" cy="48439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9644"/>
            <a:ext cx="7261979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 Constat : Notre Défi Actuel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2124313"/>
            <a:ext cx="4223147" cy="189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 turnover représente un coût majeur pour notre organisation. L'absentéisme et les démissions génèrent des pertes financières significatives, mais aussi une perte de compétences critiques et de capital humain.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4199453"/>
            <a:ext cx="4223147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zones de fragilité identifiées :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3790" y="4698802"/>
            <a:ext cx="4223147" cy="108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Département IT : turnover élevé</a:t>
            </a:r>
            <a:endParaRPr lang="en-US" sz="165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 : déstabilisation des équipes</a:t>
            </a:r>
            <a:endParaRPr lang="en-US" sz="165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Coûts de recrutement et formation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93790" y="6089213"/>
            <a:ext cx="13042821" cy="1180624"/>
          </a:xfrm>
          <a:prstGeom prst="roundRect">
            <a:avLst>
              <a:gd name="adj" fmla="val 7666"/>
            </a:avLst>
          </a:prstGeom>
          <a:solidFill>
            <a:srgbClr val="C6E4E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74" y="6398538"/>
            <a:ext cx="269319" cy="2153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93877" y="6347698"/>
            <a:ext cx="12127349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 taux de démission global dépasse notre moyenne de référence, avec des pics dans les départements technologiques et opérationnels.</a:t>
            </a:r>
            <a:endParaRPr lang="en-US" sz="1650" dirty="0"/>
          </a:p>
        </p:txBody>
      </p:sp>
      <p:pic>
        <p:nvPicPr>
          <p:cNvPr id="13" name="Image 12" descr="Une image contenant texte, capture d’écran, Tracé, diagramme&#10;&#10;Le contenu généré par l’IA peut être incorrect.">
            <a:extLst>
              <a:ext uri="{FF2B5EF4-FFF2-40B4-BE49-F238E27FC236}">
                <a16:creationId xmlns:a16="http://schemas.microsoft.com/office/drawing/2014/main" id="{DB5A41C7-45DE-0A0A-EF33-4EB60BB7B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713" y="1827574"/>
            <a:ext cx="5858432" cy="39965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23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La Solution Technique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4738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modèle de Machine Learning frugal et interprétable qui transforme nos données RH en indicateur de risque prédictif.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60050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3941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Données Sources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884539"/>
            <a:ext cx="389393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Historiques RH, salaires, évaluations, ancienneté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260050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43941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Modèle ML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4884539"/>
            <a:ext cx="389393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Algorithme d'apprentissage supervisé interprétable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260050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43941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Alerte RH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4884539"/>
            <a:ext cx="389393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Score de risque en temps réel avec explications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93790" y="6046827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 système s'appuie sur des données existantes sans collecte intrusive, garantissant une intégration fluide avec nos systèmes RH actuels.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blanc, reçu&#10;&#10;Le contenu généré par l’IA peut être incorrect.">
            <a:extLst>
              <a:ext uri="{FF2B5EF4-FFF2-40B4-BE49-F238E27FC236}">
                <a16:creationId xmlns:a16="http://schemas.microsoft.com/office/drawing/2014/main" id="{4C419A09-76ED-5B10-3C1B-973AC72CB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1809"/>
            <a:ext cx="14619887" cy="7257791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3F359490-F87A-5E73-0049-50A9B5DE7AE5}"/>
              </a:ext>
            </a:extLst>
          </p:cNvPr>
          <p:cNvSpPr/>
          <p:nvPr/>
        </p:nvSpPr>
        <p:spPr>
          <a:xfrm>
            <a:off x="305275" y="1745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Description de la database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1354597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715C4-0D59-AB31-A7EE-8FDD636A2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338F29-A766-93CE-EAD5-B23B9F0916F4}"/>
              </a:ext>
            </a:extLst>
          </p:cNvPr>
          <p:cNvSpPr/>
          <p:nvPr/>
        </p:nvSpPr>
        <p:spPr>
          <a:xfrm>
            <a:off x="793790" y="15023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La Solution Technique</a:t>
            </a:r>
            <a:endParaRPr lang="en-US" sz="4450" dirty="0"/>
          </a:p>
        </p:txBody>
      </p:sp>
      <p:pic>
        <p:nvPicPr>
          <p:cNvPr id="14" name="Image 1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748287C8-6095-ED47-C7AB-CE2C0E040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382" y="722243"/>
            <a:ext cx="7315200" cy="1488867"/>
          </a:xfrm>
          <a:prstGeom prst="rect">
            <a:avLst/>
          </a:prstGeom>
        </p:spPr>
      </p:pic>
      <p:pic>
        <p:nvPicPr>
          <p:cNvPr id="16" name="Image 15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E464FC3A-39BE-D1F7-6931-4527A30E4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594910"/>
            <a:ext cx="8239744" cy="5045967"/>
          </a:xfrm>
          <a:prstGeom prst="rect">
            <a:avLst/>
          </a:prstGeom>
        </p:spPr>
      </p:pic>
      <p:pic>
        <p:nvPicPr>
          <p:cNvPr id="19" name="Image 18" descr="Une image contenant texte, capture d’écran, menu&#10;&#10;Le contenu généré par l’IA peut être incorrect.">
            <a:extLst>
              <a:ext uri="{FF2B5EF4-FFF2-40B4-BE49-F238E27FC236}">
                <a16:creationId xmlns:a16="http://schemas.microsoft.com/office/drawing/2014/main" id="{A179E673-B23E-6908-E0B2-09E2CC69C7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5337" y="2594910"/>
            <a:ext cx="4999245" cy="504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3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8824"/>
            <a:ext cx="113083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Ce que le Modèle a Appris de Notre Culture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44579"/>
            <a:ext cx="32437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Les Leviers Déterminants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925723"/>
            <a:ext cx="4205168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L'analyse révèle que </a:t>
            </a:r>
            <a:r>
              <a:rPr lang="en-US" sz="1750" b="1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l'équité salariale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est le facteur le plus influent sur la rétention. La perception de justice dans les rémunérations structure le climat social.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90442"/>
            <a:ext cx="4205168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critères suivants : ancienneté, feedback régulier et opportunités de formation.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133951" y="6225302"/>
            <a:ext cx="1270265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"On ne quitte pas l'entreprise par hasard : chaque décision de départ s'ancre dans des signaux mesurables que nous pouvons anticiper."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970151"/>
            <a:ext cx="30480" cy="1190625"/>
          </a:xfrm>
          <a:prstGeom prst="rect">
            <a:avLst/>
          </a:prstGeom>
          <a:solidFill>
            <a:srgbClr val="95CCD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A3FD272-6B29-AE49-9460-55E2DED92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494" y="2222370"/>
            <a:ext cx="6819900" cy="353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2A459-4083-FCF5-D290-A9E42B4E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843083-8932-9E94-0FF2-203218432889}"/>
              </a:ext>
            </a:extLst>
          </p:cNvPr>
          <p:cNvSpPr/>
          <p:nvPr/>
        </p:nvSpPr>
        <p:spPr>
          <a:xfrm>
            <a:off x="793789" y="1094458"/>
            <a:ext cx="113083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Ce que le Modèle a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Appris</a:t>
            </a: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de Notre Culture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DBF0E6-94CE-A7E7-1336-1BA0B8839016}"/>
              </a:ext>
            </a:extLst>
          </p:cNvPr>
          <p:cNvSpPr/>
          <p:nvPr/>
        </p:nvSpPr>
        <p:spPr>
          <a:xfrm>
            <a:off x="793789" y="3019087"/>
            <a:ext cx="32437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Les Leviers Déterminants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F4BEDE-BE67-D195-2FCD-D7E5F5FC1A42}"/>
              </a:ext>
            </a:extLst>
          </p:cNvPr>
          <p:cNvSpPr/>
          <p:nvPr/>
        </p:nvSpPr>
        <p:spPr>
          <a:xfrm>
            <a:off x="793789" y="3600231"/>
            <a:ext cx="4205168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L'analyse révèle que </a:t>
            </a:r>
            <a:r>
              <a:rPr lang="en-US" sz="1750" b="1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l'équité salariale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est le facteur le plus influent sur la rétention. La perception de justice dans les rémunérations structure le climat social.</a:t>
            </a:r>
            <a:endParaRPr lang="en-US" sz="1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55B447-679B-CAA6-D8CC-B1A444A1C9F4}"/>
              </a:ext>
            </a:extLst>
          </p:cNvPr>
          <p:cNvSpPr/>
          <p:nvPr/>
        </p:nvSpPr>
        <p:spPr>
          <a:xfrm>
            <a:off x="793789" y="5164950"/>
            <a:ext cx="4205168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critères suivants : ancienneté, feedback régulier et opportunités de formation.</a:t>
            </a:r>
            <a:endParaRPr lang="en-US" sz="17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657C337-B3A6-F11B-E05A-55808E995B01}"/>
              </a:ext>
            </a:extLst>
          </p:cNvPr>
          <p:cNvSpPr/>
          <p:nvPr/>
        </p:nvSpPr>
        <p:spPr>
          <a:xfrm rot="5400000">
            <a:off x="2844397" y="4481511"/>
            <a:ext cx="70020" cy="4205167"/>
          </a:xfrm>
          <a:prstGeom prst="rect">
            <a:avLst/>
          </a:prstGeom>
          <a:solidFill>
            <a:srgbClr val="95CCD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C896CE2-4A2D-50E9-13FC-3521C9E7B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502" y="471723"/>
            <a:ext cx="6092108" cy="714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02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E92051F-119A-7508-DA1E-E9539A4BA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89" y="2602962"/>
            <a:ext cx="12959789" cy="453217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CDA2737-D6C3-16E2-54C7-18A6C0C2CE7F}"/>
              </a:ext>
            </a:extLst>
          </p:cNvPr>
          <p:cNvSpPr/>
          <p:nvPr/>
        </p:nvSpPr>
        <p:spPr>
          <a:xfrm>
            <a:off x="793789" y="1094458"/>
            <a:ext cx="113083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Analyse</a:t>
            </a: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des </a:t>
            </a:r>
            <a:r>
              <a:rPr lang="en-US" sz="445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potentiels</a:t>
            </a: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445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biais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3989528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2440"/>
            <a:ext cx="87819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Cas d'Usage : De l'Alerte à l'Action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4847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 duo IA + HRBP : une synergie efficace pour préserver nos talents.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18015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35204"/>
            <a:ext cx="6407944" cy="3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7095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Détection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199930"/>
            <a:ext cx="6407944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 système identifie 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Julien, Développeur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avec un score de risque de 82%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428548" y="318015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3535204"/>
            <a:ext cx="6408063" cy="30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28548" y="37095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Analyse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428548" y="4199930"/>
            <a:ext cx="640806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L'HRBP consulte l'historique : écart salarial détecté, stagnation depuis 18 mois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93790" y="527708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609511"/>
            <a:ext cx="6407944" cy="30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3790" y="58064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Intervention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93790" y="6296858"/>
            <a:ext cx="640794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Entretien ciblé et </a:t>
            </a:r>
            <a:r>
              <a:rPr lang="en-US" sz="1750" b="1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ajustement salarial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proposé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7428548" y="527708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5609511"/>
            <a:ext cx="6408063" cy="30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28548" y="58064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Résultat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428548" y="6296858"/>
            <a:ext cx="640806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Rétention réussie, satisfaction renforcée, équipe préservée</a:t>
            </a: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9BA20F-552D-5472-18EB-09B059D905ED}"/>
              </a:ext>
            </a:extLst>
          </p:cNvPr>
          <p:cNvSpPr/>
          <p:nvPr/>
        </p:nvSpPr>
        <p:spPr>
          <a:xfrm>
            <a:off x="793790" y="3535204"/>
            <a:ext cx="6407944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A005D9-DF5F-A1B6-2028-7A27E99FB078}"/>
              </a:ext>
            </a:extLst>
          </p:cNvPr>
          <p:cNvSpPr/>
          <p:nvPr/>
        </p:nvSpPr>
        <p:spPr>
          <a:xfrm>
            <a:off x="7428548" y="3518654"/>
            <a:ext cx="6407944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46BD06-7E23-2138-F497-94734A373A7C}"/>
              </a:ext>
            </a:extLst>
          </p:cNvPr>
          <p:cNvSpPr/>
          <p:nvPr/>
        </p:nvSpPr>
        <p:spPr>
          <a:xfrm>
            <a:off x="793790" y="5685175"/>
            <a:ext cx="6407944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60597B-39A4-C568-4BE3-8E68ABD5C219}"/>
              </a:ext>
            </a:extLst>
          </p:cNvPr>
          <p:cNvSpPr/>
          <p:nvPr/>
        </p:nvSpPr>
        <p:spPr>
          <a:xfrm>
            <a:off x="7428548" y="5688318"/>
            <a:ext cx="6407944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2346"/>
            <a:ext cx="85891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Une IA Responsable et Conforme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84753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Performant, mais surtout éthique et respectueux des standards RGPD &amp; RSE.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80065"/>
            <a:ext cx="4196358" cy="3227189"/>
          </a:xfrm>
          <a:prstGeom prst="roundRect">
            <a:avLst>
              <a:gd name="adj" fmla="val 295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3614499"/>
            <a:ext cx="680442" cy="68044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3801547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45217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Privacy-First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224" y="5012174"/>
            <a:ext cx="3727490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Données anonymisées et agrégées. Accès contrôlé avec traçabilité complète. Conformité RGPD garantie par design.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3380065"/>
            <a:ext cx="4196358" cy="3227189"/>
          </a:xfrm>
          <a:prstGeom prst="roundRect">
            <a:avLst>
              <a:gd name="adj" fmla="val 295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1396" y="3614499"/>
            <a:ext cx="680442" cy="68044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8562" y="3801547"/>
            <a:ext cx="306110" cy="3061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51396" y="45217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Audit de Neutre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5451396" y="5012174"/>
            <a:ext cx="3727490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Certification IBM AIF360 validée. Test de biais genre, âge, origine. Aucun préjugé algorithmique détecté.</a:t>
            </a:r>
            <a:endParaRPr lang="en-US" sz="1750" dirty="0"/>
          </a:p>
        </p:txBody>
      </p:sp>
      <p:sp>
        <p:nvSpPr>
          <p:cNvPr id="14" name="Shape 8"/>
          <p:cNvSpPr/>
          <p:nvPr/>
        </p:nvSpPr>
        <p:spPr>
          <a:xfrm>
            <a:off x="9640133" y="3380065"/>
            <a:ext cx="4196358" cy="3227189"/>
          </a:xfrm>
          <a:prstGeom prst="roundRect">
            <a:avLst>
              <a:gd name="adj" fmla="val 295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4568" y="3614499"/>
            <a:ext cx="680442" cy="680442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61734" y="3801547"/>
            <a:ext cx="306110" cy="30611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874568" y="45217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Bilan Carbone</a:t>
            </a:r>
            <a:endParaRPr lang="en-US" sz="2200" dirty="0"/>
          </a:p>
        </p:txBody>
      </p:sp>
      <p:sp>
        <p:nvSpPr>
          <p:cNvPr id="18" name="Text 10"/>
          <p:cNvSpPr/>
          <p:nvPr/>
        </p:nvSpPr>
        <p:spPr>
          <a:xfrm>
            <a:off x="9874568" y="5012174"/>
            <a:ext cx="3727490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frugale limitant la consommation CPU. Impact environnemental mesuré et optimisé continuellement.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52EBF-405B-8B03-5015-37CD5B4F0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B24C50-9312-2ED1-EA61-EEADCE5FC530}"/>
              </a:ext>
            </a:extLst>
          </p:cNvPr>
          <p:cNvSpPr/>
          <p:nvPr/>
        </p:nvSpPr>
        <p:spPr>
          <a:xfrm>
            <a:off x="644073" y="0"/>
            <a:ext cx="85891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Une IA </a:t>
            </a:r>
            <a:r>
              <a:rPr lang="en-US" sz="445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Responsable</a:t>
            </a:r>
            <a:endParaRPr lang="en-US" sz="4450" dirty="0">
              <a:solidFill>
                <a:srgbClr val="2E3C4E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et Conforme</a:t>
            </a:r>
            <a:endParaRPr lang="en-US" sz="4450" dirty="0"/>
          </a:p>
        </p:txBody>
      </p:sp>
      <p:pic>
        <p:nvPicPr>
          <p:cNvPr id="20" name="Image 19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D11E100B-C3AF-00B6-3B7D-A19E06E47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7685"/>
            <a:ext cx="6696179" cy="6811915"/>
          </a:xfrm>
          <a:prstGeom prst="rect">
            <a:avLst/>
          </a:prstGeom>
        </p:spPr>
      </p:pic>
      <p:pic>
        <p:nvPicPr>
          <p:cNvPr id="22" name="Image 21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6FD9726-965B-4F10-0BFB-C1B4B29C1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973795"/>
            <a:ext cx="7772400" cy="725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4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567975C-4605-90AE-7344-AF94D1DAC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2576"/>
            <a:ext cx="14621320" cy="5148197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861881F5-D77E-4D4E-94B4-D4FEE715AAF5}"/>
              </a:ext>
            </a:extLst>
          </p:cNvPr>
          <p:cNvSpPr/>
          <p:nvPr/>
        </p:nvSpPr>
        <p:spPr>
          <a:xfrm>
            <a:off x="581443" y="638827"/>
            <a:ext cx="85891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Une IA </a:t>
            </a:r>
            <a:r>
              <a:rPr lang="en-US" sz="445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Responsable</a:t>
            </a:r>
            <a:endParaRPr lang="en-US" sz="4450" dirty="0">
              <a:solidFill>
                <a:srgbClr val="2E3C4E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et Conforme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2889979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7944"/>
            <a:ext cx="6066592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ROI et Plan de Déploiement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709976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Investissement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793790" y="2235279"/>
            <a:ext cx="6286262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5 000€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pour le pilote technique et l'intégration RH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3790" y="2650093"/>
            <a:ext cx="6286262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Développement du modèle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Formation des HRBP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 tableau de bord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57968" y="1709976"/>
            <a:ext cx="2996089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Économies Potentielles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7557968" y="2235279"/>
            <a:ext cx="6286262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25 000€+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économisés par démission évitée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57968" y="2650093"/>
            <a:ext cx="6286262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Coût de recrutement : 10 000€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Formation onboarding : 5 000€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Productivité perdue : 10 000€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3790" y="3904754"/>
            <a:ext cx="13042821" cy="31671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93790" y="5826085"/>
            <a:ext cx="13042821" cy="22860"/>
          </a:xfrm>
          <a:prstGeom prst="roundRect">
            <a:avLst>
              <a:gd name="adj" fmla="val 354232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329345" y="5247739"/>
            <a:ext cx="22860" cy="578406"/>
          </a:xfrm>
          <a:prstGeom prst="roundRect">
            <a:avLst>
              <a:gd name="adj" fmla="val 354232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123962" y="5609213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196173" y="5707577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135862" y="412063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1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86552" y="4520089"/>
            <a:ext cx="4708684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Semaines 1-2 : Entraînement du modèle sur données historiques IT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78843" y="5826026"/>
            <a:ext cx="22860" cy="578406"/>
          </a:xfrm>
          <a:prstGeom prst="roundRect">
            <a:avLst>
              <a:gd name="adj" fmla="val 354232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773460" y="5609213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857101" y="5706981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4785360" y="659725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2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3636050" y="6996708"/>
            <a:ext cx="4708684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Semaines 3-4 : Tests de performance et validation éthique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628340" y="5247739"/>
            <a:ext cx="22860" cy="578406"/>
          </a:xfrm>
          <a:prstGeom prst="roundRect">
            <a:avLst>
              <a:gd name="adj" fmla="val 354232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8422958" y="5609213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495169" y="5696003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7434858" y="412063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3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6285548" y="4520089"/>
            <a:ext cx="4708684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Semaines 5-6 : Déploiement pilote avec 3 HRBP sur périmètre Tech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1277838" y="5826026"/>
            <a:ext cx="22860" cy="578406"/>
          </a:xfrm>
          <a:prstGeom prst="roundRect">
            <a:avLst>
              <a:gd name="adj" fmla="val 354232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11072455" y="5609213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1144667" y="5696003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0084356" y="659725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4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8935045" y="6996708"/>
            <a:ext cx="4708684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Semaines 7-8 : Évaluation résultats et déploiement progressif Production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819751-2296-2FEB-CDB0-36B98C0555AE}"/>
              </a:ext>
            </a:extLst>
          </p:cNvPr>
          <p:cNvSpPr/>
          <p:nvPr/>
        </p:nvSpPr>
        <p:spPr>
          <a:xfrm>
            <a:off x="793790" y="697944"/>
            <a:ext cx="6066592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Minimum Viable Product - MVP</a:t>
            </a:r>
            <a:endParaRPr lang="en-US" sz="3750" dirty="0"/>
          </a:p>
        </p:txBody>
      </p:sp>
      <p:pic>
        <p:nvPicPr>
          <p:cNvPr id="4" name="Image 3" descr="Une image contenant capture d’écran, texte, logiciel, conception&#10;&#10;Le contenu généré par l’IA peut être incorrect.">
            <a:extLst>
              <a:ext uri="{FF2B5EF4-FFF2-40B4-BE49-F238E27FC236}">
                <a16:creationId xmlns:a16="http://schemas.microsoft.com/office/drawing/2014/main" id="{CED6806C-0BBB-3251-B0BC-289CE12BD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586804"/>
            <a:ext cx="13089253" cy="664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024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capture d’écran, texte&#10;&#10;Le contenu généré par l’IA peut être incorrect.">
            <a:extLst>
              <a:ext uri="{FF2B5EF4-FFF2-40B4-BE49-F238E27FC236}">
                <a16:creationId xmlns:a16="http://schemas.microsoft.com/office/drawing/2014/main" id="{5A1FDF88-6B8D-86D0-28AA-CD08B6655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66" y="1526682"/>
            <a:ext cx="13868867" cy="6702918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20234CA3-8A85-70A6-C0B8-C63E2C4AC2DA}"/>
              </a:ext>
            </a:extLst>
          </p:cNvPr>
          <p:cNvSpPr/>
          <p:nvPr/>
        </p:nvSpPr>
        <p:spPr>
          <a:xfrm>
            <a:off x="793790" y="697944"/>
            <a:ext cx="6066592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Minimum Viable Product - MVP</a:t>
            </a:r>
            <a:endParaRPr lang="en-US" sz="3750" dirty="0"/>
          </a:p>
        </p:txBody>
      </p:sp>
    </p:spTree>
    <p:extLst>
      <p:ext uri="{BB962C8B-B14F-4D97-AF65-F5344CB8AC3E}">
        <p14:creationId xmlns:p14="http://schemas.microsoft.com/office/powerpoint/2010/main" val="3783645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nombre, logiciel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ECB2EF7-896C-A066-1BA4-38AE44C37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92" y="0"/>
            <a:ext cx="1358201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842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apture d’écran, texte&#10;&#10;Le contenu généré par l’IA peut être incorrect.">
            <a:extLst>
              <a:ext uri="{FF2B5EF4-FFF2-40B4-BE49-F238E27FC236}">
                <a16:creationId xmlns:a16="http://schemas.microsoft.com/office/drawing/2014/main" id="{17EB0F29-12D3-9F36-82A1-0A7948568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72" y="0"/>
            <a:ext cx="1362205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73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596</Words>
  <Application>Microsoft Macintosh PowerPoint</Application>
  <PresentationFormat>Personnalisé</PresentationFormat>
  <Paragraphs>92</Paragraphs>
  <Slides>17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Aptos</vt:lpstr>
      <vt:lpstr>Roboto</vt:lpstr>
      <vt:lpstr>Host Grotesk Medium</vt:lpstr>
      <vt:lpstr>Host Grotesk Light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VURPILLOT Clément</cp:lastModifiedBy>
  <cp:revision>7</cp:revision>
  <dcterms:created xsi:type="dcterms:W3CDTF">2026-03-17T00:35:09Z</dcterms:created>
  <dcterms:modified xsi:type="dcterms:W3CDTF">2026-03-17T13:13:26Z</dcterms:modified>
</cp:coreProperties>
</file>